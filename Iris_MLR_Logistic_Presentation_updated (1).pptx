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1230" y="1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n-US" sz="4200">
                <a:solidFill>
                  <a:srgbClr val="FFFFFF"/>
                </a:solidFill>
              </a:rPr>
              <a:t>Multiple Linear Regression &amp; Logistic Regression on the Iris Dataset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9483" y="4797188"/>
            <a:ext cx="4747847" cy="1241828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Course: Data Mining STQM-342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Student: Caden Raleigh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Goal: use flower measurements to model and predict iris characteristics.</a:t>
            </a:r>
          </a:p>
          <a:p>
            <a:pPr lvl="1"/>
            <a:r>
              <a:rPr lang="en-US" sz="1700"/>
              <a:t>Regression goal: predict Petal_length from other measurements.</a:t>
            </a:r>
          </a:p>
          <a:p>
            <a:pPr lvl="1"/>
            <a:r>
              <a:rPr lang="en-US" sz="1700"/>
              <a:t>Classification goal: predict Species_name (Setosa, Versicolor, Virginica).</a:t>
            </a:r>
          </a:p>
          <a:p>
            <a:pPr lvl="1"/>
            <a:r>
              <a:rPr lang="en-US" sz="1700"/>
              <a:t>Measure of success: valid models with high R² / classification accuracy and minimal overfitting.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1" y="4018137"/>
            <a:ext cx="3803416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Data Understanding – Iris Dataset</a:t>
            </a:r>
          </a:p>
        </p:txBody>
      </p:sp>
      <p:pic>
        <p:nvPicPr>
          <p:cNvPr id="7" name="Picture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4516CE47-D153-54A9-4D82-77030C284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59" y="617779"/>
            <a:ext cx="8112418" cy="326524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7613133" y="4270841"/>
            <a:ext cx="1423414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3978" y="4018143"/>
            <a:ext cx="4161833" cy="2129599"/>
          </a:xfrm>
          <a:noFill/>
        </p:spPr>
        <p:txBody>
          <a:bodyPr anchor="t">
            <a:normAutofit/>
          </a:bodyPr>
          <a:lstStyle/>
          <a:p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</a:rPr>
              <a:t>Dataset: classic Fisher Iris data (150 flowers).</a:t>
            </a:r>
          </a:p>
          <a:p>
            <a:pPr lvl="1"/>
            <a:r>
              <a:rPr lang="en-US" sz="1500">
                <a:solidFill>
                  <a:schemeClr val="bg1"/>
                </a:solidFill>
              </a:rPr>
              <a:t>3 species: Setosa, Versicolor, Virginica (50 records each).</a:t>
            </a:r>
          </a:p>
          <a:p>
            <a:pPr lvl="1"/>
            <a:r>
              <a:rPr lang="en-US" sz="1500">
                <a:solidFill>
                  <a:schemeClr val="bg1"/>
                </a:solidFill>
              </a:rPr>
              <a:t>Continuous variables: Petal_length, Petal_width, Sepal_length, Sepal_width.</a:t>
            </a:r>
          </a:p>
          <a:p>
            <a:pPr lvl="1"/>
            <a:r>
              <a:rPr lang="en-US" sz="1500">
                <a:solidFill>
                  <a:schemeClr val="bg1"/>
                </a:solidFill>
              </a:rPr>
              <a:t>No missing values in the dataset.</a:t>
            </a:r>
          </a:p>
          <a:p>
            <a:pPr lvl="1"/>
            <a:endParaRPr lang="en-US" sz="15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MLR Setup – Variables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Target (Y): Petal_length (continuous).</a:t>
            </a:r>
          </a:p>
          <a:p>
            <a:pPr lvl="1"/>
            <a:r>
              <a:rPr lang="en-US" sz="1700"/>
              <a:t>Inputs (X): Petal_width, Sepal_width, Sepal_length (continuous).</a:t>
            </a:r>
          </a:p>
          <a:p>
            <a:pPr lvl="1"/>
            <a:r>
              <a:rPr lang="en-US" sz="1700"/>
              <a:t>Species fields were not used in MLR because they are categorical labels, not numeric predictors.</a:t>
            </a:r>
          </a:p>
          <a:p>
            <a:pPr lvl="1"/>
            <a:r>
              <a:rPr lang="en-US" sz="1700"/>
              <a:t>Data used in original measurement units (no Z-scores for MLR).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1" y="4018137"/>
            <a:ext cx="3803416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MLR – Correlation &amp; Rationale</a:t>
            </a:r>
          </a:p>
        </p:txBody>
      </p:sp>
      <p:pic>
        <p:nvPicPr>
          <p:cNvPr id="8" name="Picture 7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6696C14B-5CCF-C507-449E-832BE6830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44" y="617779"/>
            <a:ext cx="5464849" cy="3265248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7613133" y="4270841"/>
            <a:ext cx="1423414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3978" y="4018143"/>
            <a:ext cx="4161833" cy="2129599"/>
          </a:xfrm>
          <a:noFill/>
        </p:spPr>
        <p:txBody>
          <a:bodyPr anchor="t">
            <a:normAutofit/>
          </a:bodyPr>
          <a:lstStyle/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Strong linear relationships were observed between Petal_length and the other measurements.</a:t>
            </a:r>
          </a:p>
          <a:p>
            <a:pPr lvl="1"/>
            <a:r>
              <a:rPr lang="en-US" sz="1600">
                <a:solidFill>
                  <a:schemeClr val="bg1"/>
                </a:solidFill>
              </a:rPr>
              <a:t>High correlations justify using multiple linear regression to model Petal_length.  </a:t>
            </a:r>
          </a:p>
          <a:p>
            <a:pPr marL="457200" lvl="1" indent="0">
              <a:buNone/>
            </a:pPr>
            <a:endParaRPr lang="en-US" sz="1600">
              <a:solidFill>
                <a:schemeClr val="bg1"/>
              </a:solidFill>
            </a:endParaRPr>
          </a:p>
          <a:p>
            <a:pPr lvl="1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" name="AutoShape 2" descr="Uploaded image">
            <a:extLst>
              <a:ext uri="{FF2B5EF4-FFF2-40B4-BE49-F238E27FC236}">
                <a16:creationId xmlns:a16="http://schemas.microsoft.com/office/drawing/2014/main" id="{11DCAC16-C02B-08E6-3CC7-CB86FBFE20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Uploaded image">
            <a:extLst>
              <a:ext uri="{FF2B5EF4-FFF2-40B4-BE49-F238E27FC236}">
                <a16:creationId xmlns:a16="http://schemas.microsoft.com/office/drawing/2014/main" id="{35508711-4315-E8E3-39E0-F94D384D31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MLR – Model Building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Used stepwise multiple linear regression in SPSS Modeler.</a:t>
            </a:r>
          </a:p>
          <a:p>
            <a:pPr lvl="1"/>
            <a:r>
              <a:rPr lang="en-US" sz="1700"/>
              <a:t>Start with Petal_width, then add Sepal_length and Sepal_width as long as they significantly improve the model.</a:t>
            </a:r>
          </a:p>
          <a:p>
            <a:pPr lvl="1"/>
            <a:r>
              <a:rPr lang="en-US" sz="1700"/>
              <a:t>Data partition: 90% training, 10% testing to check for overfitting.</a:t>
            </a:r>
          </a:p>
          <a:p>
            <a:pPr lvl="1"/>
            <a:r>
              <a:rPr lang="en-US" sz="1700"/>
              <a:t>Final stepwise model retained all three predictors.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2F53F4-8F8E-9360-232C-6A3D3AE382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4" r="-2" b="11401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MLR – Final Regression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bg1"/>
                </a:solidFill>
              </a:rPr>
              <a:t>Final stepwise MLR model (original units):</a:t>
            </a:r>
          </a:p>
          <a:p>
            <a:pPr lvl="1">
              <a:lnSpc>
                <a:spcPct val="90000"/>
              </a:lnSpc>
            </a:pPr>
            <a:r>
              <a:rPr lang="en-US" sz="1200" dirty="0" err="1">
                <a:solidFill>
                  <a:schemeClr val="bg1"/>
                </a:solidFill>
              </a:rPr>
              <a:t>Petal_length</a:t>
            </a:r>
            <a:r>
              <a:rPr lang="en-US" sz="1200" dirty="0">
                <a:solidFill>
                  <a:schemeClr val="bg1"/>
                </a:solidFill>
              </a:rPr>
              <a:t>  =  -3.833 + 1.375 × </a:t>
            </a:r>
            <a:r>
              <a:rPr lang="en-US" sz="1200" dirty="0" err="1">
                <a:solidFill>
                  <a:schemeClr val="bg1"/>
                </a:solidFill>
              </a:rPr>
              <a:t>Petal_width</a:t>
            </a:r>
            <a:r>
              <a:rPr lang="en-US" sz="1200" dirty="0">
                <a:solidFill>
                  <a:schemeClr val="bg1"/>
                </a:solidFill>
              </a:rPr>
              <a:t> + 0.795 × </a:t>
            </a:r>
            <a:r>
              <a:rPr lang="en-US" sz="1200" dirty="0" err="1">
                <a:solidFill>
                  <a:schemeClr val="bg1"/>
                </a:solidFill>
              </a:rPr>
              <a:t>Sepal_length</a:t>
            </a:r>
            <a:r>
              <a:rPr lang="en-US" sz="1200" dirty="0">
                <a:solidFill>
                  <a:schemeClr val="bg1"/>
                </a:solidFill>
              </a:rPr>
              <a:t> − 0.702 × </a:t>
            </a:r>
            <a:r>
              <a:rPr lang="en-US" sz="1200" dirty="0" err="1">
                <a:solidFill>
                  <a:schemeClr val="bg1"/>
                </a:solidFill>
              </a:rPr>
              <a:t>Sepal_width</a:t>
            </a:r>
            <a:endParaRPr lang="en-US" sz="12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1200" dirty="0">
                <a:solidFill>
                  <a:schemeClr val="bg1"/>
                </a:solidFill>
              </a:rPr>
              <a:t>Interpretation example: holding other variables constant, a 1-unit increase in </a:t>
            </a:r>
            <a:r>
              <a:rPr lang="en-US" sz="1200" dirty="0" err="1">
                <a:solidFill>
                  <a:schemeClr val="bg1"/>
                </a:solidFill>
              </a:rPr>
              <a:t>Petal_width</a:t>
            </a:r>
            <a:r>
              <a:rPr lang="en-US" sz="1200" dirty="0">
                <a:solidFill>
                  <a:schemeClr val="bg1"/>
                </a:solidFill>
              </a:rPr>
              <a:t> increases expected </a:t>
            </a:r>
            <a:r>
              <a:rPr lang="en-US" sz="1200" dirty="0" err="1">
                <a:solidFill>
                  <a:schemeClr val="bg1"/>
                </a:solidFill>
              </a:rPr>
              <a:t>Petal_length</a:t>
            </a:r>
            <a:r>
              <a:rPr lang="en-US" sz="1200" dirty="0">
                <a:solidFill>
                  <a:schemeClr val="bg1"/>
                </a:solidFill>
              </a:rPr>
              <a:t> by about 1.375 units.</a:t>
            </a:r>
          </a:p>
          <a:p>
            <a:pPr lvl="1">
              <a:lnSpc>
                <a:spcPct val="90000"/>
              </a:lnSpc>
            </a:pPr>
            <a:r>
              <a:rPr lang="en-US" sz="1200" dirty="0">
                <a:solidFill>
                  <a:schemeClr val="bg1"/>
                </a:solidFill>
              </a:rPr>
              <a:t>coefficients 1.375, 0.795, −0.702, and constant −3.833]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table with numbers and a number of squares&#10;&#10;AI-generated content may be incorrect.">
            <a:extLst>
              <a:ext uri="{FF2B5EF4-FFF2-40B4-BE49-F238E27FC236}">
                <a16:creationId xmlns:a16="http://schemas.microsoft.com/office/drawing/2014/main" id="{EB86E89E-2BC3-ED6E-6E06-15095FE75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94" r="1" b="2290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MLR – ANOVA &amp; Overall Model 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Hypotheses: H₀: all slope coefficients </a:t>
            </a:r>
            <a:r>
              <a:rPr lang="el-GR" sz="1600">
                <a:solidFill>
                  <a:schemeClr val="bg1"/>
                </a:solidFill>
              </a:rPr>
              <a:t>β = 0  </a:t>
            </a:r>
            <a:r>
              <a:rPr lang="en-US" sz="1600">
                <a:solidFill>
                  <a:schemeClr val="bg1"/>
                </a:solidFill>
              </a:rPr>
              <a:t>vs  H₁: at least one </a:t>
            </a:r>
            <a:r>
              <a:rPr lang="el-GR" sz="1600">
                <a:solidFill>
                  <a:schemeClr val="bg1"/>
                </a:solidFill>
              </a:rPr>
              <a:t>β ≠ 0.</a:t>
            </a:r>
          </a:p>
          <a:p>
            <a:pPr lvl="1"/>
            <a:r>
              <a:rPr lang="en-US" sz="1600">
                <a:solidFill>
                  <a:schemeClr val="bg1"/>
                </a:solidFill>
              </a:rPr>
              <a:t>ANOVA F-test Sig &lt; 0.001 &lt; </a:t>
            </a:r>
            <a:r>
              <a:rPr lang="el-GR" sz="1600">
                <a:solidFill>
                  <a:schemeClr val="bg1"/>
                </a:solidFill>
              </a:rPr>
              <a:t>α = 0.05.</a:t>
            </a:r>
          </a:p>
          <a:p>
            <a:pPr lvl="1"/>
            <a:r>
              <a:rPr lang="en-US" sz="1600">
                <a:solidFill>
                  <a:schemeClr val="bg1"/>
                </a:solidFill>
              </a:rPr>
              <a:t>Conclusion: reject H₀ – the overall regression model is statistically significant.</a:t>
            </a:r>
          </a:p>
          <a:p>
            <a:pPr lvl="1"/>
            <a:endParaRPr 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269DBB2-D9A8-90DA-DB5F-A200BC3E2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53" r="1" b="1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MLR – Coefficient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All three predictors (Petal_width, Sepal_length, Sepal_width) have p-values &lt; 0.001.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Each predictor contributes significantly to explaining Petal_length when controlling for the others.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The constant (intercept) is not practically important by itself but is needed for the line’s position.</a:t>
            </a:r>
          </a:p>
          <a:p>
            <a:pPr lvl="1"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E0D975-7725-493F-8862-ED40C46BE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83F0D96-8CD4-4CDE-B0CC-657797260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24C51D7-954A-4143-B39C-4752FA3B6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491EF17-1635-4AEB-AC11-07BA2A119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2F202BA-4686-4BC5-8CA5-60010A0F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53C14B0-1161-49D1-9AAC-B4BAD7436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8E96422-DF7F-4DB7-9786-EABEBF8BC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close-up of a document&#10;&#10;AI-generated content may be incorrect.">
            <a:extLst>
              <a:ext uri="{FF2B5EF4-FFF2-40B4-BE49-F238E27FC236}">
                <a16:creationId xmlns:a16="http://schemas.microsoft.com/office/drawing/2014/main" id="{51EDA21D-62DA-2850-0986-FA6A9106C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5" y="518600"/>
            <a:ext cx="4289035" cy="279645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 descr="A table with numbers and a few letters&#10;&#10;AI-generated content may be incorrect.">
            <a:extLst>
              <a:ext uri="{FF2B5EF4-FFF2-40B4-BE49-F238E27FC236}">
                <a16:creationId xmlns:a16="http://schemas.microsoft.com/office/drawing/2014/main" id="{364FCD77-17C3-556C-1AAD-3C38C2E4E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080" y="420892"/>
            <a:ext cx="4490119" cy="3470751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88307" cy="2129586"/>
          </a:xfrm>
          <a:noFill/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>
                <a:solidFill>
                  <a:schemeClr val="bg1"/>
                </a:solidFill>
              </a:rPr>
              <a:t>MLR – Multicollinearity &amp;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495999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Variance Inflation Factor (VIF) values: all &lt; 5 (and &lt; 10).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→ No serious multicollinearity problems among the inputs.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Durbin–Watson statistic = 1.785, which lies between 1.5 and 2.5.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→ No evidence of problematic autocorrelation in residuals.</a:t>
            </a:r>
          </a:p>
          <a:p>
            <a:pPr lvl="1"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4" name="AutoShape 2" descr="Uploaded image">
            <a:extLst>
              <a:ext uri="{FF2B5EF4-FFF2-40B4-BE49-F238E27FC236}">
                <a16:creationId xmlns:a16="http://schemas.microsoft.com/office/drawing/2014/main" id="{0F8979C6-0B02-B008-1CB4-36B2E6B246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B45835-3DB7-4D95-9290-E7C2C3AD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A86C3D-5E02-4EC9-A07B-6786E96EC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A1BCCA4-FEFE-4004-9DD5-96DC53BFB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9025533-FEDC-498B-B634-AACB9C542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BCB9B21-6FC4-4E75-9B78-CBF710766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65F2E95-7169-4456-9FD1-FD404A2B1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C39C303-7680-46A4-83C1-D77C74DEA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12998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MLR – Residual Diagnostics</a:t>
            </a:r>
          </a:p>
        </p:txBody>
      </p:sp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B0A666AE-2D02-4C11-D5E2-53CD590C8F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76" r="23167" b="1"/>
          <a:stretch>
            <a:fillRect/>
          </a:stretch>
        </p:blipFill>
        <p:spPr>
          <a:xfrm>
            <a:off x="469944" y="344770"/>
            <a:ext cx="3430053" cy="349037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graph showing a number of blue balls&#10;&#10;AI-generated content may be incorrect.">
            <a:extLst>
              <a:ext uri="{FF2B5EF4-FFF2-40B4-BE49-F238E27FC236}">
                <a16:creationId xmlns:a16="http://schemas.microsoft.com/office/drawing/2014/main" id="{3B1F4BE4-A293-386B-AF0A-B4EA0E8DB7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30" r="13938" b="-1"/>
          <a:stretch>
            <a:fillRect/>
          </a:stretch>
        </p:blipFill>
        <p:spPr>
          <a:xfrm>
            <a:off x="4102537" y="341641"/>
            <a:ext cx="4494227" cy="349037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495999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Residuals vs. predicted Petal_length: roughly constant spread around 0 with no strong pattern.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→ Supports assumption of constant variance (homoscedasticity).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Histogram of residuals: approximately bell-shaped but not perfectly normal.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→ Errors are close to normal; minor deviations are acceptable for large-sample regression.</a:t>
            </a:r>
          </a:p>
          <a:p>
            <a:pPr lvl="1"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" name="AutoShape 2" descr="Uploaded image">
            <a:extLst>
              <a:ext uri="{FF2B5EF4-FFF2-40B4-BE49-F238E27FC236}">
                <a16:creationId xmlns:a16="http://schemas.microsoft.com/office/drawing/2014/main" id="{87F5FD66-2A3D-CFEE-FAD5-DFD88BADE2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MLR – Performance &amp;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Training R² ≈ 96.03% indicates that about 96% of the variation in Petal_length is explained by the three predictors.</a:t>
            </a:r>
          </a:p>
          <a:p>
            <a:pPr lvl="1"/>
            <a:r>
              <a:rPr lang="en-US" sz="1700"/>
              <a:t>Testing performance ≈ 95.83%, giving an overfit of about 0.2%.</a:t>
            </a:r>
          </a:p>
          <a:p>
            <a:pPr lvl="1"/>
            <a:r>
              <a:rPr lang="en-US" sz="1700"/>
              <a:t>→ The model generalizes very well to new data and is not overfitted.</a:t>
            </a:r>
          </a:p>
          <a:p>
            <a:pPr lvl="1"/>
            <a:r>
              <a:rPr lang="en-US" sz="1700"/>
              <a:t>MLR provides an accurate and interpretable summary of how petal and sepal measurements affect Petal_length.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17FDB-7B7D-F64F-4A7C-30E03C28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MLR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22BB-F2D0-BF2D-A4F9-99471E4D0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Assumptions of Multiple Linear Regression</a:t>
            </a:r>
            <a:endParaRPr lang="en-US" sz="1700" dirty="0"/>
          </a:p>
          <a:p>
            <a:r>
              <a:rPr lang="en-US" sz="1700" dirty="0"/>
              <a:t>Linear relationship between predictors and </a:t>
            </a:r>
            <a:r>
              <a:rPr lang="en-US" sz="1700" dirty="0" err="1"/>
              <a:t>Petal_length</a:t>
            </a:r>
            <a:endParaRPr lang="en-US" sz="1700" dirty="0"/>
          </a:p>
          <a:p>
            <a:r>
              <a:rPr lang="en-US" sz="1700" dirty="0"/>
              <a:t>Independent errors (Durbin-Watson = 1.785)</a:t>
            </a:r>
          </a:p>
          <a:p>
            <a:r>
              <a:rPr lang="en-US" sz="1700" dirty="0"/>
              <a:t>Residuals approximately normal</a:t>
            </a:r>
          </a:p>
          <a:p>
            <a:r>
              <a:rPr lang="en-US" sz="1700" dirty="0"/>
              <a:t>Constant variance in residuals (no clear funneling)</a:t>
            </a:r>
          </a:p>
          <a:p>
            <a:r>
              <a:rPr lang="en-US" sz="1700" dirty="0"/>
              <a:t>No multicollinearity (all VIF &lt; 5)</a:t>
            </a:r>
          </a:p>
          <a:p>
            <a:r>
              <a:rPr lang="en-US" sz="1700" dirty="0"/>
              <a:t>Adequate sample size for 3 predictors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34512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From Regression to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Next, the focus shifts from predicting a continuous outcome to predicting the flower species.</a:t>
            </a:r>
          </a:p>
          <a:p>
            <a:pPr lvl="1"/>
            <a:r>
              <a:rPr lang="en-US" sz="1700"/>
              <a:t>Logistic regression is used because the target variable Species_name is categorical with three classes.</a:t>
            </a:r>
          </a:p>
          <a:p>
            <a:pPr lvl="1"/>
            <a:r>
              <a:rPr lang="en-US" sz="1700"/>
              <a:t>A multinomial logistic procedure is required (binary logistic is not sufficient for 3 categories).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A2D5CE7D-27B4-10B6-7290-A021384DC8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94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Logistic Regression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Target: Species_name (Setosa, Versicolor, Virginica).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Inputs: Petal_width, Petal_length, Sepal_width, Sepal_length (original units).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Partition: same 90% training / 10% testing split as MLR.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Multinomial logistic regression used with Setosa as the reference category.</a:t>
            </a:r>
          </a:p>
          <a:p>
            <a:pPr lvl="1"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2A7B24C8-2945-1C87-7FCB-0EC27619D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309" r="-1" b="38401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>
                <a:solidFill>
                  <a:schemeClr val="bg1"/>
                </a:solidFill>
              </a:rPr>
              <a:t>Logistic Regression – Predictor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2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Predictor importance results for Species_name: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• Petal_length ≈ 0.68 (most important predictor).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• Petal_width ≈ 0.28 (second most important).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• Sepal_width ≈ 0.03 and Sepal_length ≈ 0.00 (minimal impact).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Conclusion: petal measurements dominate species classification.</a:t>
            </a:r>
          </a:p>
          <a:p>
            <a:pPr lvl="1">
              <a:lnSpc>
                <a:spcPct val="90000"/>
              </a:lnSpc>
            </a:pPr>
            <a:endParaRPr 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A04CDB68-8073-7D2D-E151-5AD7B105BD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94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>
                <a:solidFill>
                  <a:schemeClr val="bg1"/>
                </a:solidFill>
              </a:rPr>
              <a:t>Logistic Regression – Versicolor vs Setosa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2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Equation for log-odds of Versicolor (relative to Setosa):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log(P(Versicolor)/P(Setosa)) = 4.530 + 1.274×Petal_width + 0.990×Petal_length − 0.464×Sepal_width − 0.492×Sepal_length.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Exp(B) (odds ratios) interpretation: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• Petal_width Exp(B) ≈ 3.576 → each 1-unit increase multiplies odds of Versicolor vs Setosa by about 3.6.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• Petal_length Exp(B) ≈ 2.692 → each 1-unit increase multiplies odds by about 2.7.</a:t>
            </a:r>
          </a:p>
          <a:p>
            <a:pPr lvl="1">
              <a:lnSpc>
                <a:spcPct val="90000"/>
              </a:lnSpc>
            </a:pPr>
            <a:endParaRPr 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1" y="4018137"/>
            <a:ext cx="3803416" cy="2129586"/>
          </a:xfrm>
          <a:noFill/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>
                <a:solidFill>
                  <a:schemeClr val="bg1"/>
                </a:solidFill>
              </a:rPr>
              <a:t>Logistic Regression – Virginica vs Setosa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D13010-66E2-081A-DE0D-55C75867A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58" y="617779"/>
            <a:ext cx="7964020" cy="326524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7613133" y="4270841"/>
            <a:ext cx="1423414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3978" y="4018143"/>
            <a:ext cx="4161833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2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Equation for log-odds of Virginica (relative to Setosa):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log(P(Virginica)/P(Setosa)) = −23.024 + 2.232×Petal_width + 1.571×Petal_length − 0.676×Sepal_width − 0.662×Sepal_length.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Key odds ratios Exp(B):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• Petal_width Exp(B) ≈ 9.320 → very strong effect: larger petal width greatly increases odds of Virginica.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• Petal_length Exp(B) ≈ 4.810 → longer petals also strongly increase odds of Virginica.</a:t>
            </a:r>
          </a:p>
          <a:p>
            <a:pPr lvl="1">
              <a:lnSpc>
                <a:spcPct val="90000"/>
              </a:lnSpc>
            </a:pPr>
            <a:endParaRPr 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1" y="4018137"/>
            <a:ext cx="3803416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3900">
                <a:solidFill>
                  <a:schemeClr val="bg1"/>
                </a:solidFill>
              </a:rPr>
              <a:t>Logistic Regression – Overall Model Fit</a:t>
            </a:r>
          </a:p>
        </p:txBody>
      </p:sp>
      <p:pic>
        <p:nvPicPr>
          <p:cNvPr id="5" name="Picture 4" descr="A close-up of a table&#10;&#10;AI-generated content may be incorrect.">
            <a:extLst>
              <a:ext uri="{FF2B5EF4-FFF2-40B4-BE49-F238E27FC236}">
                <a16:creationId xmlns:a16="http://schemas.microsoft.com/office/drawing/2014/main" id="{4F578F33-5B5E-3494-E8DA-005A797CA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9" y="878078"/>
            <a:ext cx="8132299" cy="2744649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7613133" y="4270841"/>
            <a:ext cx="1423414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3978" y="4018143"/>
            <a:ext cx="4161833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2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Model fitting information: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• Intercept-only −2 Log Likelihood = 276.660.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• Final model −2 Log Likelihood = 17.599.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Chi-square = 259.061 with df = 8, Sig &lt; 0.001.</a:t>
            </a:r>
          </a:p>
          <a:p>
            <a:pPr lvl="1">
              <a:lnSpc>
                <a:spcPct val="90000"/>
              </a:lnSpc>
            </a:pPr>
            <a:r>
              <a:rPr lang="en-US" sz="1200">
                <a:solidFill>
                  <a:schemeClr val="bg1"/>
                </a:solidFill>
              </a:rPr>
              <a:t>Conclusion: the set of predictors significantly improves fit over the null model; the logistic model is valid.</a:t>
            </a:r>
          </a:p>
          <a:p>
            <a:pPr lvl="1">
              <a:lnSpc>
                <a:spcPct val="90000"/>
              </a:lnSpc>
            </a:pPr>
            <a:endParaRPr 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BE0D975-7725-493F-8862-ED40C46BE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83F0D96-8CD4-4CDE-B0CC-657797260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24C51D7-954A-4143-B39C-4752FA3B6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491EF17-1635-4AEB-AC11-07BA2A119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2F202BA-4686-4BC5-8CA5-60010A0F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53C14B0-1161-49D1-9AAC-B4BAD7436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8E96422-DF7F-4DB7-9786-EABEBF8BC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AA2A3A-D3BB-6C27-FC89-593164458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1" y="338510"/>
            <a:ext cx="4443357" cy="285485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36A444C3-FB97-25DC-5044-C54D5C405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833" y="338509"/>
            <a:ext cx="5584041" cy="279645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88307" cy="2129586"/>
          </a:xfrm>
          <a:noFill/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>
                <a:solidFill>
                  <a:schemeClr val="bg1"/>
                </a:solidFill>
              </a:rPr>
              <a:t>Logistic Regression – Pseudo R² &amp;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495999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Pseudo R-Square (Nagelkerke) = 0.981.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→ About 98.1% of the variance in species membership is explained by the four inputs.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Classification accuracy: training ≈ 96.03%, testing ≈ 95.83%, overfit ≈ 0.2%.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Forward selection produced a slightly higher overfit (~0.59%), so the Enter / backward models were preferred.</a:t>
            </a:r>
          </a:p>
          <a:p>
            <a:pPr lvl="1"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661D4-C4FB-D7F5-1E3A-55FFDA3B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Logistic Regression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3973D-3FC9-E647-C9C2-B7CA8AC6C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Assumptions of Logistic Regression</a:t>
            </a:r>
            <a:endParaRPr lang="en-US" sz="1700" dirty="0"/>
          </a:p>
          <a:p>
            <a:r>
              <a:rPr lang="en-US" sz="1700" dirty="0"/>
              <a:t>Target must be categorical (ours: 3-class species → multinomial)</a:t>
            </a:r>
          </a:p>
          <a:p>
            <a:r>
              <a:rPr lang="en-US" sz="1700" dirty="0"/>
              <a:t>Observations independent</a:t>
            </a:r>
          </a:p>
          <a:p>
            <a:r>
              <a:rPr lang="en-US" sz="1700" dirty="0"/>
              <a:t>Predictors not highly collinear (VIF &lt; 5)</a:t>
            </a:r>
          </a:p>
          <a:p>
            <a:r>
              <a:rPr lang="en-US" sz="1700" dirty="0"/>
              <a:t>Linear relationship to log-odds for continuous predictors</a:t>
            </a:r>
          </a:p>
          <a:p>
            <a:r>
              <a:rPr lang="en-US" sz="1700" dirty="0"/>
              <a:t>Sufficient sample size (minimum ≈121, we exceeded with 150)</a:t>
            </a:r>
          </a:p>
          <a:p>
            <a:r>
              <a:rPr lang="en-US" sz="1700" dirty="0"/>
              <a:t>Model must fit better than intercept-only (Chi-Square Sig &lt; .001)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32689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200">
                <a:solidFill>
                  <a:srgbClr val="FFFFFF"/>
                </a:solidFill>
              </a:rPr>
              <a:t>Final Conclusions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Multiple Linear Regression:</a:t>
            </a:r>
          </a:p>
          <a:p>
            <a:pPr lvl="1"/>
            <a:r>
              <a:rPr lang="en-US" sz="1700"/>
              <a:t>• Petal_width, Sepal_length, and Sepal_width significantly predict Petal_length.</a:t>
            </a:r>
          </a:p>
          <a:p>
            <a:pPr lvl="1"/>
            <a:r>
              <a:rPr lang="en-US" sz="1700"/>
              <a:t>• Model explains ~96% of variance with minimal overfitting and acceptable residual diagnostics.</a:t>
            </a:r>
          </a:p>
          <a:p>
            <a:pPr lvl="1"/>
            <a:r>
              <a:rPr lang="en-US" sz="1700"/>
              <a:t>Logistic Regression:</a:t>
            </a:r>
          </a:p>
          <a:p>
            <a:pPr lvl="1"/>
            <a:r>
              <a:rPr lang="en-US" sz="1700"/>
              <a:t>• Petal_length and Petal_width are dominant predictors of species; sepal variables add little.</a:t>
            </a:r>
          </a:p>
          <a:p>
            <a:pPr lvl="1"/>
            <a:r>
              <a:rPr lang="en-US" sz="1700"/>
              <a:t>• Multinomial model is statistically valid (Chi-square p &lt; .001) and explains 98.1% of species variation.</a:t>
            </a:r>
          </a:p>
          <a:p>
            <a:pPr lvl="1"/>
            <a:r>
              <a:rPr lang="en-US" sz="1700"/>
              <a:t>Overall: flower petal measurements contain nearly all of the useful information for both predicting petal length and classifying iris species.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1385</Words>
  <Application>Microsoft Office PowerPoint</Application>
  <PresentationFormat>On-screen Show (4:3)</PresentationFormat>
  <Paragraphs>135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Multiple Linear Regression &amp; Logistic Regression on the Iris Dataset</vt:lpstr>
      <vt:lpstr>Business Understanding</vt:lpstr>
      <vt:lpstr>Data Understanding – Iris Dataset</vt:lpstr>
      <vt:lpstr>MLR Setup – Variables &amp; Roles</vt:lpstr>
      <vt:lpstr>MLR – Correlation &amp; Rationale</vt:lpstr>
      <vt:lpstr>MLR – Model Building Strategy</vt:lpstr>
      <vt:lpstr>MLR – Final Regression Equation</vt:lpstr>
      <vt:lpstr>MLR – ANOVA &amp; Overall Model Validity</vt:lpstr>
      <vt:lpstr>MLR – Coefficient Significance</vt:lpstr>
      <vt:lpstr>MLR – Multicollinearity &amp; Independence</vt:lpstr>
      <vt:lpstr>MLR – Residual Diagnostics</vt:lpstr>
      <vt:lpstr>MLR – Performance &amp; Overfitting</vt:lpstr>
      <vt:lpstr>MLR Assumptions</vt:lpstr>
      <vt:lpstr>From Regression to Classification</vt:lpstr>
      <vt:lpstr>Logistic Regression Setup</vt:lpstr>
      <vt:lpstr>Logistic Regression – Predictor Importance</vt:lpstr>
      <vt:lpstr>Logistic Regression – Versicolor vs Setosa</vt:lpstr>
      <vt:lpstr>Logistic Regression – Virginica vs Setosa</vt:lpstr>
      <vt:lpstr>Logistic Regression – Overall Model Fit</vt:lpstr>
      <vt:lpstr>Logistic Regression – Pseudo R² &amp; Overfitting</vt:lpstr>
      <vt:lpstr>Logistic Regression Assumptions</vt:lpstr>
      <vt:lpstr>Final Conclusions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Caden D Raleigh</cp:lastModifiedBy>
  <cp:revision>2</cp:revision>
  <dcterms:created xsi:type="dcterms:W3CDTF">2013-01-27T09:14:16Z</dcterms:created>
  <dcterms:modified xsi:type="dcterms:W3CDTF">2025-12-01T17:21:23Z</dcterms:modified>
  <cp:category/>
</cp:coreProperties>
</file>